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3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1708E"/>
                </a:solidFill>
              </a:rPr>
              <a:t>Producto de datos integrado para Buenaventura</a:t>
            </a:r>
          </a:p>
          <a:p>
            <a:r>
              <a:rPr sz="1500">
                <a:solidFill>
                  <a:srgbClr val="555555"/>
                </a:solidFill>
              </a:rPr>
              <a:t>Importaciones y carga portuaria · Universidad Libre, Seccional Cali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3060000"/>
            <a:ext cx="111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</a:rPr>
              <a:t>Juan Manuel Tejada Fajardo · Jesús Alejandro Guerrero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Ingeniería del Producto de Ciencia de Datos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</a:rPr>
              <a:t>Director del trabajo: Ing. Fabián Castillo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</a:rPr>
              <a:t>Programa: Ciencia de Datos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Santiago de Cali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3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1708E"/>
                </a:solidFill>
              </a:rPr>
              <a:t>El problema</a:t>
            </a:r>
          </a:p>
          <a:p>
            <a:r>
              <a:rPr sz="1500">
                <a:solidFill>
                  <a:srgbClr val="555555"/>
                </a:solidFill>
              </a:rPr>
              <a:t>Contexto · 1 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620000"/>
            <a:ext cx="55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2222"/>
                </a:solidFill>
              </a:rPr>
              <a:t>Los datos existen. La respuesta no.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El DANE publica declaraciones aduaneras.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La Superintendencia de Transporte publica toneladas movilizadas.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22222"/>
                </a:solidFill>
              </a:rPr>
              <a:t>Ninguna de las dos, por separado, responde: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¿el comercio creció porque entró más mercancía,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o porque la mercancía se encareció?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0" y="1620000"/>
            <a:ext cx="52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</a:rPr>
              <a:t>Lo que este trabajo hace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· Integra 173 meses aduaneros y 102 portuarios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· 101 meses de intersección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· Responde 52 preguntas con evidencia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· Documenta lo que NO se puede responder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3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1708E"/>
                </a:solidFill>
              </a:rPr>
              <a:t>Qué medimos y qué no</a:t>
            </a:r>
          </a:p>
          <a:p>
            <a:r>
              <a:rPr sz="1500">
                <a:solidFill>
                  <a:srgbClr val="555555"/>
                </a:solidFill>
              </a:rPr>
              <a:t>Contexto · 2 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620000"/>
            <a:ext cx="55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E7D32"/>
                </a:solidFill>
              </a:rPr>
              <a:t>SÍ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E7D32"/>
                </a:solidFill>
              </a:rPr>
              <a:t>· Valor CIF, peso neto y valor unitario implícito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E7D32"/>
                </a:solidFill>
              </a:rPr>
              <a:t>· Toneladas por tipo de carga y sociedad portuaria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E7D32"/>
                </a:solidFill>
              </a:rPr>
              <a:t>· Concentración y especialización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E7D32"/>
                </a:solidFill>
              </a:rPr>
              <a:t>· Pronóstico con intervalos medidos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0" y="1620000"/>
            <a:ext cx="52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C62828"/>
                </a:solidFill>
              </a:rPr>
              <a:t>NO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C62828"/>
                </a:solidFill>
              </a:rPr>
              <a:t>· Congestión, patios, tiempos de despacho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C62828"/>
                </a:solidFill>
              </a:rPr>
              <a:t>· Arribos, tipos de buque, ETA/ATA, permanencias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C62828"/>
                </a:solidFill>
              </a:rPr>
              <a:t>· TEU: la fuente publica toneladas, no unidades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C62828"/>
                </a:solidFill>
              </a:rPr>
              <a:t>· Qué buque trajo una importación concreta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94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55555"/>
                </a:solidFill>
              </a:rPr>
              <a:t>Las ocho preguntas del bloque marítimo se cierran como no viables, con la búsqueda documentada. Es una respuesta, no una omisión.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3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1708E"/>
                </a:solidFill>
              </a:rPr>
              <a:t>Fuentes: lo que encontramos al verificar</a:t>
            </a:r>
          </a:p>
          <a:p>
            <a:r>
              <a:rPr sz="1500">
                <a:solidFill>
                  <a:srgbClr val="555555"/>
                </a:solidFill>
              </a:rPr>
              <a:t>Contexto · 3 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620000"/>
            <a:ext cx="111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2222"/>
                </a:solidFill>
              </a:rPr>
              <a:t>Suponíamos que el dato portuario era trimestral y en PDF. Era falso.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El conjunto 5r3g-zv5z de datos.gov.co publica el dato MENSUAL, por sociedad portuaria y tipo de carga, desde 2018, con API y licencia CC BY-SA 4.0.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7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31708E"/>
                </a:solidFill>
              </a:rPr>
              <a:t>102</a:t>
            </a:r>
          </a:p>
          <a:p>
            <a:r>
              <a:rPr sz="1200">
                <a:solidFill>
                  <a:srgbClr val="555555"/>
                </a:solidFill>
              </a:rPr>
              <a:t>meses portuarios, sin huecos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0" y="37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A5673F"/>
                </a:solidFill>
              </a:rPr>
              <a:t>2026-06</a:t>
            </a:r>
          </a:p>
          <a:p>
            <a:r>
              <a:rPr sz="1200">
                <a:solidFill>
                  <a:srgbClr val="555555"/>
                </a:solidFill>
              </a:rPr>
              <a:t>último mes: el puerto va por delante de la aduana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8000" y="37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C62828"/>
                </a:solidFill>
              </a:rPr>
              <a:t>0</a:t>
            </a:r>
          </a:p>
          <a:p>
            <a:r>
              <a:rPr sz="1200">
                <a:solidFill>
                  <a:srgbClr val="555555"/>
                </a:solidFill>
              </a:rPr>
              <a:t>fuentes públicas con arribos o permanencias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6000" y="37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E7D32"/>
                </a:solidFill>
              </a:rPr>
              <a:t>CC BY-SA</a:t>
            </a:r>
          </a:p>
          <a:p>
            <a:r>
              <a:rPr sz="1200">
                <a:solidFill>
                  <a:srgbClr val="555555"/>
                </a:solidFill>
              </a:rPr>
              <a:t>licencia verificada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3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1708E"/>
                </a:solidFill>
              </a:rPr>
              <a:t>El hallazgo que cambió el producto</a:t>
            </a:r>
          </a:p>
          <a:p>
            <a:r>
              <a:rPr sz="1500">
                <a:solidFill>
                  <a:srgbClr val="555555"/>
                </a:solidFill>
              </a:rPr>
              <a:t>Producto · 1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512000"/>
            <a:ext cx="11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C62828"/>
                </a:solidFill>
              </a:rPr>
              <a:t>Integrar dominios NO mejora el pronóstico. Lo empeora.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28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E7D32"/>
                </a:solidFill>
              </a:rPr>
              <a:t>5,875 %</a:t>
            </a:r>
          </a:p>
          <a:p>
            <a:r>
              <a:rPr sz="1200">
                <a:solidFill>
                  <a:srgbClr val="555555"/>
                </a:solidFill>
              </a:rPr>
              <a:t>solo historia propia + calendario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40000" y="28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A5673F"/>
                </a:solidFill>
              </a:rPr>
              <a:t>6,167 %</a:t>
            </a:r>
          </a:p>
          <a:p>
            <a:r>
              <a:rPr sz="1200">
                <a:solidFill>
                  <a:srgbClr val="555555"/>
                </a:solidFill>
              </a:rPr>
              <a:t>modelo integrado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48000" y="28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C62828"/>
                </a:solidFill>
              </a:rPr>
              <a:t>6,575 %</a:t>
            </a:r>
          </a:p>
          <a:p>
            <a:r>
              <a:rPr sz="1200">
                <a:solidFill>
                  <a:srgbClr val="555555"/>
                </a:solidFill>
              </a:rPr>
              <a:t>historia propia + puerto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4500000"/>
            <a:ext cx="111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22222"/>
                </a:solidFill>
              </a:rPr>
              <a:t>Por qué: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ambas fuentes miden el mismo comercio con el mismo rezago de publicación. El puerto no aporta información que la historia del CIF no tenga ya, y sí consume grados de libertad sobre una muestra corta.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22222"/>
                </a:solidFill>
              </a:rPr>
              <a:t>Consecuencia: el modelo predictivo es el aduanero. El puerto aporta valor descriptivo y explicativo.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3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1708E"/>
                </a:solidFill>
              </a:rPr>
              <a:t>El contraste que solo se ve integrando</a:t>
            </a:r>
          </a:p>
          <a:p>
            <a:r>
              <a:rPr sz="1500">
                <a:solidFill>
                  <a:srgbClr val="555555"/>
                </a:solidFill>
              </a:rPr>
              <a:t>Producto · 2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800000"/>
            <a:ext cx="34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E7D32"/>
                </a:solidFill>
              </a:rPr>
              <a:t>434</a:t>
            </a:r>
          </a:p>
          <a:p>
            <a:r>
              <a:rPr sz="1200">
                <a:solidFill>
                  <a:srgbClr val="555555"/>
                </a:solidFill>
              </a:rPr>
              <a:t>HHI capítulo arancelario
desconcentrado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0" y="1800000"/>
            <a:ext cx="34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E7D32"/>
                </a:solidFill>
              </a:rPr>
              <a:t>1.351</a:t>
            </a:r>
          </a:p>
          <a:p>
            <a:r>
              <a:rPr sz="1200">
                <a:solidFill>
                  <a:srgbClr val="555555"/>
                </a:solidFill>
              </a:rPr>
              <a:t>HHI país de origen
desconcentrado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8000" y="1800000"/>
            <a:ext cx="34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C62828"/>
                </a:solidFill>
              </a:rPr>
              <a:t>3.515</a:t>
            </a:r>
          </a:p>
          <a:p>
            <a:r>
              <a:rPr sz="1200">
                <a:solidFill>
                  <a:srgbClr val="555555"/>
                </a:solidFill>
              </a:rPr>
              <a:t>HHI sociedad portuaria
CONCENTRADO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3780000"/>
            <a:ext cx="111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2222"/>
                </a:solidFill>
              </a:rPr>
              <a:t>Buenaventura importa mercancía variada desde orígenes variados,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2222"/>
                </a:solidFill>
              </a:rPr>
              <a:t>pero la mueve por muy pocas sociedades portuarias.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Una sola concentra el 51,36 % de las toneladas. Y la especialización es casi total: una sociedad dedicada a contenedores no puede absorber un desvío de granel.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El riesgo no está en qué se importa ni de dónde viene, sino en el punto físico por el que pasa.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3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1708E"/>
                </a:solidFill>
              </a:rPr>
              <a:t>Dos sociedades no aparecen reportando en 2026</a:t>
            </a:r>
          </a:p>
          <a:p>
            <a:r>
              <a:rPr sz="1500">
                <a:solidFill>
                  <a:srgbClr val="555555"/>
                </a:solidFill>
              </a:rPr>
              <a:t>Producto · 3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620000"/>
            <a:ext cx="558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22222"/>
                </a:solidFill>
              </a:rPr>
              <a:t>Qué muestran los datos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· COMPANIA DE PUERTOS ASOCIADOS S.A. — último reporte 2025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· GRUPO PORTUARIO S.A — último reporte 2025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Verificado mes a mes: en los seis meses observados de 2026 solo reportan tres sociedades. No es rezago de publicación.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0" y="1620000"/>
            <a:ext cx="522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C62828"/>
                </a:solidFill>
              </a:rPr>
              <a:t>Lo que NO podemos afirmar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C62828"/>
                </a:solidFill>
              </a:rPr>
              <a:t>La fuente registra reporte, no operación.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C62828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C62828"/>
                </a:solidFill>
              </a:rPr>
              <a:t>No podemos decir que dejaron de operar.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C62828"/>
                </a:solidFill>
              </a:rPr>
              <a:t>Solo que no figuran en los reportes del periodo observado.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C62828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62828"/>
                </a:solidFill>
              </a:rPr>
              <a:t>Por qué importa: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C62828"/>
                </a:solidFill>
              </a:rPr>
              <a:t>un modelo entrenado sobre el total leería esta ausencia como una caída real del comercio.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3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1708E"/>
                </a:solidFill>
              </a:rPr>
              <a:t>Qué se puede pronosticar y qué no</a:t>
            </a:r>
          </a:p>
          <a:p>
            <a:r>
              <a:rPr sz="1500">
                <a:solidFill>
                  <a:srgbClr val="555555"/>
                </a:solidFill>
              </a:rPr>
              <a:t>Producto · 4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620000"/>
            <a:ext cx="11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22222"/>
                </a:solidFill>
              </a:rPr>
              <a:t>El criterio se fijó antes de mirar los resultados: sin 36 observaciones, se describe, no se pronostica.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28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E7D32"/>
                </a:solidFill>
              </a:rPr>
              <a:t>6,613 %</a:t>
            </a:r>
          </a:p>
          <a:p>
            <a:r>
              <a:rPr sz="1200">
                <a:solidFill>
                  <a:srgbClr val="555555"/>
                </a:solidFill>
              </a:rPr>
              <a:t>toneladas totales · Ridge
contra 9,174 % del naive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0000" y="28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C62828"/>
                </a:solidFill>
              </a:rPr>
              <a:t>8,553 %</a:t>
            </a:r>
          </a:p>
          <a:p>
            <a:r>
              <a:rPr sz="1200">
                <a:solidFill>
                  <a:srgbClr val="555555"/>
                </a:solidFill>
              </a:rPr>
              <a:t>carga contenerizada · NAIVE 1
Ridge da 9,450 %: peor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8000" y="28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555555"/>
                </a:solidFill>
              </a:rPr>
              <a:t>0</a:t>
            </a:r>
          </a:p>
          <a:p>
            <a:r>
              <a:rPr sz="1200">
                <a:solidFill>
                  <a:srgbClr val="555555"/>
                </a:solidFill>
              </a:rPr>
              <a:t>TEU, arribos y permanencias
sin fuente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6000" y="28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31708E"/>
                </a:solidFill>
              </a:rPr>
              <a:t>4 de 7</a:t>
            </a:r>
          </a:p>
          <a:p>
            <a:r>
              <a:rPr sz="1200">
                <a:solidFill>
                  <a:srgbClr val="555555"/>
                </a:solidFill>
              </a:rPr>
              <a:t>indicadores elegibles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4860000"/>
            <a:ext cx="11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Para la carga contenerizada la recomendación es no usar modelo. Un indicador que no se pronostica mejor que repetir el último valor no debe llevar un modelo encima.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3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1708E"/>
                </a:solidFill>
              </a:rPr>
              <a:t>El producto: seis vistas</a:t>
            </a:r>
          </a:p>
          <a:p>
            <a:r>
              <a:rPr sz="1500">
                <a:solidFill>
                  <a:srgbClr val="555555"/>
                </a:solidFill>
              </a:rPr>
              <a:t>Producto · 5 de 6 · demostración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620000"/>
            <a:ext cx="55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22222"/>
                </a:solidFill>
              </a:rPr>
              <a:t>1 · Ejecutiva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valor y volumen lado a lado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22222"/>
                </a:solidFill>
              </a:rPr>
              <a:t>2 · Aduanera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CIF, peso, valor unitario, estacionalidad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22222"/>
                </a:solidFill>
              </a:rPr>
              <a:t>3 · Portuaria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tipo de carga, sociedades, HHI, especialización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0" y="1620000"/>
            <a:ext cx="52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22222"/>
                </a:solidFill>
              </a:rPr>
              <a:t>4 · Marítima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la no viabilidad, documentada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22222"/>
                </a:solidFill>
              </a:rPr>
              <a:t>5 · Predictiva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modelos, líneas base, intervalos, ablación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22222"/>
                </a:solidFill>
              </a:rPr>
              <a:t>6 · Calidad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trazabilidad de las 52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5940000"/>
            <a:ext cx="11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55555"/>
                </a:solidFill>
              </a:rPr>
              <a:t>El tablero no calcula nada: lee de la capa de consumo. Lo que se ve en pantalla y lo que dice el documento salen del mismo archivo.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3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1708E"/>
                </a:solidFill>
              </a:rPr>
              <a:t>Trazabilidad</a:t>
            </a:r>
          </a:p>
          <a:p>
            <a:r>
              <a:rPr sz="1500">
                <a:solidFill>
                  <a:srgbClr val="555555"/>
                </a:solidFill>
              </a:rPr>
              <a:t>Producto · 6 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9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E7D32"/>
                </a:solidFill>
              </a:rPr>
              <a:t>38</a:t>
            </a:r>
          </a:p>
          <a:p>
            <a:r>
              <a:rPr sz="1200">
                <a:solidFill>
                  <a:srgbClr val="555555"/>
                </a:solidFill>
              </a:rPr>
              <a:t>preguntas ejecutadas
con archivo de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0" y="19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A5673F"/>
                </a:solidFill>
              </a:rPr>
              <a:t>4</a:t>
            </a:r>
          </a:p>
          <a:p>
            <a:r>
              <a:rPr sz="1200">
                <a:solidFill>
                  <a:srgbClr val="555555"/>
                </a:solidFill>
              </a:rPr>
              <a:t>parciales
con limitación declarada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8000" y="19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C62828"/>
                </a:solidFill>
              </a:rPr>
              <a:t>10</a:t>
            </a:r>
          </a:p>
          <a:p>
            <a:r>
              <a:rPr sz="1200">
                <a:solidFill>
                  <a:srgbClr val="555555"/>
                </a:solidFill>
              </a:rPr>
              <a:t>no viables
con búsqueda documentada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96000" y="1980000"/>
            <a:ext cx="2664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31708E"/>
                </a:solidFill>
              </a:rPr>
              <a:t>0</a:t>
            </a:r>
          </a:p>
          <a:p>
            <a:r>
              <a:rPr sz="1200">
                <a:solidFill>
                  <a:srgbClr val="555555"/>
                </a:solidFill>
              </a:rPr>
              <a:t>sin evidencia
ni justificación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3960000"/>
            <a:ext cx="111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22222"/>
                </a:solidFill>
              </a:rPr>
              <a:t>80 pruebas automatizadas · ruff sin hallazgos · 42 figuras · 54 archivos de evidencia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Ninguna cifra del documento está escrita a mano: todas provienen de un archivo generado por el pipeline.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El proyecto anterior se conserva congelado con manifiesto de hashes SHA-256.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3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1708E"/>
                </a:solidFill>
              </a:rPr>
              <a:t>Conclusiones</a:t>
            </a:r>
          </a:p>
          <a:p>
            <a:r>
              <a:rPr sz="1500">
                <a:solidFill>
                  <a:srgbClr val="555555"/>
                </a:solidFill>
              </a:rPr>
              <a:t>Cierre · 1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620000"/>
            <a:ext cx="111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22222"/>
                </a:solidFill>
              </a:rPr>
              <a:t>1. La integración es agregada por mes, nunca directa.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No existe llave pública entre una declaración y un movimiento portuario.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22222"/>
                </a:solidFill>
              </a:rPr>
              <a:t>2. Integrar no mejora el pronóstico: lo empeora.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El modelo predictivo es el aduanero; el puerto aporta explicación.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22222"/>
                </a:solidFill>
              </a:rPr>
              <a:t>3. Canasta diversificada, movilización concentrada.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El riesgo está en el punto físico por el que pasa la carga.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22222"/>
                </a:solidFill>
              </a:rPr>
              <a:t>4. Lo que no se puede medir, se documenta.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Ocho preguntas cerradas con evidencia valen más que ocho cifras inventadas.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88000"/>
            <a:ext cx="113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1708E"/>
                </a:solidFill>
              </a:rPr>
              <a:t>Límites y siguiente paso</a:t>
            </a:r>
          </a:p>
          <a:p>
            <a:r>
              <a:rPr sz="1500">
                <a:solidFill>
                  <a:srgbClr val="555555"/>
                </a:solidFill>
              </a:rPr>
              <a:t>Cierre · 2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620000"/>
            <a:ext cx="55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C62828"/>
                </a:solidFill>
              </a:rPr>
              <a:t>Lo que este producto NO afirma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C62828"/>
                </a:solidFill>
              </a:rPr>
              <a:t>· Nada sobre congestión ni tiempos de atención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C62828"/>
                </a:solidFill>
              </a:rPr>
              <a:t>· El CIF/kg no es un precio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C62828"/>
                </a:solidFill>
              </a:rPr>
              <a:t>· El transbordo no es comercio exterior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C62828"/>
                </a:solidFill>
              </a:rPr>
              <a:t>· Correlación no es causalidad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C62828"/>
                </a:solidFill>
              </a:rPr>
              <a:t>· Las alertas no son órdenes operativas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0" y="1620000"/>
            <a:ext cx="52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E7D32"/>
                </a:solidFill>
              </a:rPr>
              <a:t>Siguiente paso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E7D32"/>
                </a:solidFill>
              </a:rPr>
              <a:t>· Validar las reglas de alerta con un usuario real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E7D32"/>
                </a:solidFill>
              </a:rPr>
              <a:t>· Segunda descarga del DANE para medir revisiones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E7D32"/>
                </a:solidFill>
              </a:rPr>
              <a:t>· Traducir códigos de país y capítulo a nombres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E7D32"/>
                </a:solidFill>
              </a:rPr>
              <a:t>· Gestionar acceso a fuentes de evento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